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8288000" cy="10287000"/>
  <p:notesSz cx="6858000" cy="9144000"/>
  <p:embeddedFontLst>
    <p:embeddedFont>
      <p:font typeface="Arimo" panose="020B0604020202020204" charset="0"/>
      <p:regular r:id="rId18"/>
    </p:embeddedFont>
    <p:embeddedFont>
      <p:font typeface="Arimo Bold" panose="020B0604020202020204" charset="0"/>
      <p:regular r:id="rId19"/>
    </p:embeddedFont>
    <p:embeddedFont>
      <p:font typeface="Garamond Bold" panose="02020804030307010803" pitchFamily="18" charset="0"/>
      <p:regular r:id="rId20"/>
      <p:bold r:id="rId21"/>
    </p:embeddedFont>
    <p:embeddedFont>
      <p:font typeface="Times New Roman Bold" panose="020208030705050203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0C3B3-9CAD-4A55-89E0-CDE3A4AF99B1}" v="172" dt="2026-03-05T14:05:59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178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87604" y="1510544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ZENO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923095" y="0"/>
            <a:ext cx="7615168" cy="3114675"/>
            <a:chOff x="0" y="0"/>
            <a:chExt cx="10153558" cy="4152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153558" cy="4152900"/>
            </a:xfrm>
            <a:custGeom>
              <a:avLst/>
              <a:gdLst/>
              <a:ahLst/>
              <a:cxnLst/>
              <a:rect l="l" t="t" r="r" b="b"/>
              <a:pathLst>
                <a:path w="10153558" h="4152900">
                  <a:moveTo>
                    <a:pt x="0" y="0"/>
                  </a:moveTo>
                  <a:lnTo>
                    <a:pt x="10153558" y="0"/>
                  </a:lnTo>
                  <a:lnTo>
                    <a:pt x="10153558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246" r="-104129" b="-4724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153558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004AA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 THINK</a:t>
              </a:r>
              <a:r>
                <a:rPr lang="en-US" sz="6000" b="1">
                  <a:solidFill>
                    <a:srgbClr val="C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A</a:t>
              </a:r>
              <a:r>
                <a:rPr lang="en-US" sz="6000" b="1">
                  <a:solidFill>
                    <a:srgbClr val="FFBD59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THO</a:t>
              </a:r>
              <a:r>
                <a:rPr lang="en-US" sz="6000" b="1">
                  <a:solidFill>
                    <a:srgbClr val="C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N</a:t>
              </a: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 </a:t>
              </a:r>
              <a:r>
                <a:rPr lang="en-US" sz="6000" b="1">
                  <a:solidFill>
                    <a:srgbClr val="1D874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9.0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Innovate.</a:t>
              </a:r>
              <a:r>
                <a:rPr lang="en-US" sz="3900" b="1">
                  <a:solidFill>
                    <a:srgbClr val="FFBD59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Ideate</a:t>
              </a:r>
              <a:r>
                <a:rPr lang="en-US" sz="39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.</a:t>
              </a:r>
              <a:r>
                <a:rPr lang="en-US" sz="3900" b="1">
                  <a:solidFill>
                    <a:srgbClr val="C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Inspire.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 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5859051" y="2199027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79"/>
                </a:lnTo>
                <a:lnTo>
                  <a:pt x="0" y="7332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5913" r="-5913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2390" y="9531306"/>
            <a:ext cx="18288000" cy="754856"/>
            <a:chOff x="0" y="0"/>
            <a:chExt cx="24384000" cy="10064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327679" y="9646782"/>
            <a:ext cx="4806001" cy="547688"/>
            <a:chOff x="0" y="0"/>
            <a:chExt cx="6408001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09894" y="9671617"/>
            <a:ext cx="4267200" cy="360350"/>
            <a:chOff x="0" y="0"/>
            <a:chExt cx="5689600" cy="4804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89600" cy="480467"/>
            </a:xfrm>
            <a:custGeom>
              <a:avLst/>
              <a:gdLst/>
              <a:ahLst/>
              <a:cxnLst/>
              <a:rect l="l" t="t" r="r" b="b"/>
              <a:pathLst>
                <a:path w="5689600" h="480467">
                  <a:moveTo>
                    <a:pt x="0" y="0"/>
                  </a:moveTo>
                  <a:lnTo>
                    <a:pt x="5689600" y="0"/>
                  </a:lnTo>
                  <a:lnTo>
                    <a:pt x="5689600" y="480467"/>
                  </a:lnTo>
                  <a:lnTo>
                    <a:pt x="0" y="4804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4744" b="-20673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689600" cy="499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50184" y="282265"/>
            <a:ext cx="1757031" cy="1916762"/>
          </a:xfrm>
          <a:custGeom>
            <a:avLst/>
            <a:gdLst/>
            <a:ahLst/>
            <a:cxnLst/>
            <a:rect l="l" t="t" r="r" b="b"/>
            <a:pathLst>
              <a:path w="1757031" h="1916762">
                <a:moveTo>
                  <a:pt x="0" y="0"/>
                </a:moveTo>
                <a:lnTo>
                  <a:pt x="1757032" y="0"/>
                </a:lnTo>
                <a:lnTo>
                  <a:pt x="1757032" y="1916762"/>
                </a:lnTo>
                <a:lnTo>
                  <a:pt x="0" y="191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192782" y="446522"/>
            <a:ext cx="2013542" cy="1848733"/>
          </a:xfrm>
          <a:custGeom>
            <a:avLst/>
            <a:gdLst/>
            <a:ahLst/>
            <a:cxnLst/>
            <a:rect l="l" t="t" r="r" b="b"/>
            <a:pathLst>
              <a:path w="2013542" h="1848733">
                <a:moveTo>
                  <a:pt x="0" y="0"/>
                </a:moveTo>
                <a:lnTo>
                  <a:pt x="2013542" y="0"/>
                </a:lnTo>
                <a:lnTo>
                  <a:pt x="2013542" y="1848732"/>
                </a:lnTo>
                <a:lnTo>
                  <a:pt x="0" y="18487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907216" y="201591"/>
            <a:ext cx="3216099" cy="1848733"/>
          </a:xfrm>
          <a:custGeom>
            <a:avLst/>
            <a:gdLst/>
            <a:ahLst/>
            <a:cxnLst/>
            <a:rect l="l" t="t" r="r" b="b"/>
            <a:pathLst>
              <a:path w="3216099" h="1848733">
                <a:moveTo>
                  <a:pt x="0" y="0"/>
                </a:moveTo>
                <a:lnTo>
                  <a:pt x="3216099" y="0"/>
                </a:lnTo>
                <a:lnTo>
                  <a:pt x="3216099" y="1848732"/>
                </a:lnTo>
                <a:lnTo>
                  <a:pt x="0" y="18487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3574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40055" y="3200000"/>
            <a:ext cx="8703945" cy="467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/>
          </a:p>
          <a:p>
            <a:pPr marL="651510" lvl="1" indent="-325755" algn="just">
              <a:lnSpc>
                <a:spcPts val="55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 Statement ID :  GGC06</a:t>
            </a:r>
          </a:p>
          <a:p>
            <a:pPr marL="651053" lvl="1" indent="-325526" algn="just">
              <a:lnSpc>
                <a:spcPts val="55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 Statement Title:  AI-Powered Cognitive Wellness Monitoring System</a:t>
            </a:r>
          </a:p>
          <a:p>
            <a:pPr marL="651053" lvl="1" indent="-325526" algn="just">
              <a:lnSpc>
                <a:spcPts val="55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ID:  TH09-77-GGCHITS-26</a:t>
            </a:r>
          </a:p>
          <a:p>
            <a:pPr marL="651510" lvl="1" indent="-325755" algn="just">
              <a:lnSpc>
                <a:spcPts val="55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name:  Daemons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943494" y="11148"/>
            <a:ext cx="2327845" cy="2458995"/>
          </a:xfrm>
          <a:custGeom>
            <a:avLst/>
            <a:gdLst/>
            <a:ahLst/>
            <a:cxnLst/>
            <a:rect l="l" t="t" r="r" b="b"/>
            <a:pathLst>
              <a:path w="2327845" h="2458995">
                <a:moveTo>
                  <a:pt x="0" y="0"/>
                </a:moveTo>
                <a:lnTo>
                  <a:pt x="2327845" y="0"/>
                </a:lnTo>
                <a:lnTo>
                  <a:pt x="2327845" y="2458995"/>
                </a:lnTo>
                <a:lnTo>
                  <a:pt x="0" y="2458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281" t="-15279" b="-11298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195317" y="328248"/>
            <a:ext cx="11897366" cy="1714500"/>
            <a:chOff x="0" y="0"/>
            <a:chExt cx="15863154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63154" cy="2286000"/>
            </a:xfrm>
            <a:custGeom>
              <a:avLst/>
              <a:gdLst/>
              <a:ahLst/>
              <a:cxnLst/>
              <a:rect l="l" t="t" r="r" b="b"/>
              <a:pathLst>
                <a:path w="15863154" h="2286000">
                  <a:moveTo>
                    <a:pt x="0" y="0"/>
                  </a:moveTo>
                  <a:lnTo>
                    <a:pt x="15863154" y="0"/>
                  </a:lnTo>
                  <a:lnTo>
                    <a:pt x="1586315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825" b="-3017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5863154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76806" y="9635728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20212" y="9635728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902825" y="0"/>
            <a:ext cx="2385175" cy="2549561"/>
          </a:xfrm>
          <a:custGeom>
            <a:avLst/>
            <a:gdLst/>
            <a:ahLst/>
            <a:cxnLst/>
            <a:rect l="l" t="t" r="r" b="b"/>
            <a:pathLst>
              <a:path w="2385175" h="2549561">
                <a:moveTo>
                  <a:pt x="0" y="0"/>
                </a:moveTo>
                <a:lnTo>
                  <a:pt x="2385175" y="0"/>
                </a:lnTo>
                <a:lnTo>
                  <a:pt x="2385175" y="2549561"/>
                </a:lnTo>
                <a:lnTo>
                  <a:pt x="0" y="25495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88" b="-900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74% of Gen Z report burnout symptoms; chronic stress at epidemic levels (APA, 2024)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wellness apps (Headspace, Calm, Wysa) require the user to manually show up</a:t>
            </a: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Stressed users are least likely to open a wellness app — creating a fundamental engagement gap</a:t>
            </a: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solution today passively detects cognitive decline or builds genuine emotional attachment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average Day-7 retention for wellness apps is only 25% — users abandon quickly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Pain point itch score: Lack of proactive mental health tools rated 91/100 in HealthTech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88643" y="-149071"/>
            <a:ext cx="15173314" cy="1714500"/>
            <a:chOff x="0" y="0"/>
            <a:chExt cx="20231085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231084" cy="2286000"/>
            </a:xfrm>
            <a:custGeom>
              <a:avLst/>
              <a:gdLst/>
              <a:ahLst/>
              <a:cxnLst/>
              <a:rect l="l" t="t" r="r" b="b"/>
              <a:pathLst>
                <a:path w="20231084" h="2286000">
                  <a:moveTo>
                    <a:pt x="0" y="0"/>
                  </a:moveTo>
                  <a:lnTo>
                    <a:pt x="20231084" y="0"/>
                  </a:lnTo>
                  <a:lnTo>
                    <a:pt x="2023108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r="-8474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231085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SDG ALIGNMENT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526318" y="9650355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08526" y="9650355"/>
            <a:ext cx="4267200" cy="547688"/>
            <a:chOff x="0" y="0"/>
            <a:chExt cx="56896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942126" y="0"/>
            <a:ext cx="2345874" cy="2250603"/>
          </a:xfrm>
          <a:custGeom>
            <a:avLst/>
            <a:gdLst/>
            <a:ahLst/>
            <a:cxnLst/>
            <a:rect l="l" t="t" r="r" b="b"/>
            <a:pathLst>
              <a:path w="2345874" h="2250603">
                <a:moveTo>
                  <a:pt x="0" y="0"/>
                </a:moveTo>
                <a:lnTo>
                  <a:pt x="2345874" y="0"/>
                </a:lnTo>
                <a:lnTo>
                  <a:pt x="2345874" y="2250603"/>
                </a:lnTo>
                <a:lnTo>
                  <a:pt x="0" y="2250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405" r="-1675" b="-12923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3 — Good Health &amp; Well-Being: ZENO addresses mental wellness for Gen Z and young professionals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3 Target 3.4: Promote mental health and well-being through innovative digital interventions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9 — Industry, Innovation &amp; Infrastructure: ZENO pioneers passive AI health monitoring on mobile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9 Target 9.b: Supports domestic technology development in the HealthTech AI domain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Proactive detection reduces downstream burden on mental healthcare systems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Freemium model ensures accessibility — making cognitive wellness tools available to all income groups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195317" y="328248"/>
            <a:ext cx="11897366" cy="1901168"/>
            <a:chOff x="0" y="0"/>
            <a:chExt cx="15863154" cy="2534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63154" cy="2534890"/>
            </a:xfrm>
            <a:custGeom>
              <a:avLst/>
              <a:gdLst/>
              <a:ahLst/>
              <a:cxnLst/>
              <a:rect l="l" t="t" r="r" b="b"/>
              <a:pathLst>
                <a:path w="15863154" h="2534890">
                  <a:moveTo>
                    <a:pt x="0" y="0"/>
                  </a:moveTo>
                  <a:lnTo>
                    <a:pt x="15863154" y="0"/>
                  </a:lnTo>
                  <a:lnTo>
                    <a:pt x="15863154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2270" b="-26227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5863154" cy="256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OVERVIEW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20212" y="9635728"/>
            <a:ext cx="4806001" cy="547688"/>
            <a:chOff x="0" y="0"/>
            <a:chExt cx="640800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5902825" y="0"/>
            <a:ext cx="2385175" cy="2411790"/>
          </a:xfrm>
          <a:custGeom>
            <a:avLst/>
            <a:gdLst/>
            <a:ahLst/>
            <a:cxnLst/>
            <a:rect l="l" t="t" r="r" b="b"/>
            <a:pathLst>
              <a:path w="2385175" h="2411790">
                <a:moveTo>
                  <a:pt x="0" y="0"/>
                </a:moveTo>
                <a:lnTo>
                  <a:pt x="2385175" y="0"/>
                </a:lnTo>
                <a:lnTo>
                  <a:pt x="2385175" y="2411790"/>
                </a:lnTo>
                <a:lnTo>
                  <a:pt x="0" y="2411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031" b="-10386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5913" r="-5913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3892399" y="9635728"/>
            <a:ext cx="4267200" cy="547688"/>
            <a:chOff x="0" y="0"/>
            <a:chExt cx="5689600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ZENO is a gamified AI cognitive wellness companion app for iOS and Android (Flutter)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innovation: passively detects stress via typing behavior, phone usage, and optional facial scan</a:t>
            </a: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Mochi — a Tamagotchi-style AI companion — reflects user mental state with evolving personality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CogniPulse Score: proprietary 0–100 wellness metric computed on-device every 2 hours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quests, XP rewards, and streak tracking drive engagement without clinical friction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users: Gen Z digital natives and young professionals aged 16–30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90832" y="171450"/>
            <a:ext cx="12968937" cy="1714500"/>
            <a:chOff x="0" y="0"/>
            <a:chExt cx="17291917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91917" cy="2286000"/>
            </a:xfrm>
            <a:custGeom>
              <a:avLst/>
              <a:gdLst/>
              <a:ahLst/>
              <a:cxnLst/>
              <a:rect l="l" t="t" r="r" b="b"/>
              <a:pathLst>
                <a:path w="17291917" h="2286000">
                  <a:moveTo>
                    <a:pt x="0" y="0"/>
                  </a:moveTo>
                  <a:lnTo>
                    <a:pt x="17291917" y="0"/>
                  </a:lnTo>
                  <a:lnTo>
                    <a:pt x="1729191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r="-26912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291917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NOVELTY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97065" y="9635728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08526" y="9635728"/>
            <a:ext cx="4252933" cy="627050"/>
            <a:chOff x="0" y="0"/>
            <a:chExt cx="5670578" cy="8360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70578" cy="836067"/>
            </a:xfrm>
            <a:custGeom>
              <a:avLst/>
              <a:gdLst/>
              <a:ahLst/>
              <a:cxnLst/>
              <a:rect l="l" t="t" r="r" b="b"/>
              <a:pathLst>
                <a:path w="5670578" h="836067">
                  <a:moveTo>
                    <a:pt x="0" y="0"/>
                  </a:moveTo>
                  <a:lnTo>
                    <a:pt x="5670578" y="0"/>
                  </a:lnTo>
                  <a:lnTo>
                    <a:pt x="5670578" y="836067"/>
                  </a:lnTo>
                  <a:lnTo>
                    <a:pt x="0" y="836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927" r="-335" b="-7627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70578" cy="855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  <a:p>
              <a:pPr algn="r">
                <a:lnSpc>
                  <a:spcPts val="2160"/>
                </a:lnSpc>
              </a:pPr>
              <a:endParaRPr lang="en-US" sz="2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934992" y="0"/>
            <a:ext cx="2385175" cy="2395171"/>
          </a:xfrm>
          <a:custGeom>
            <a:avLst/>
            <a:gdLst/>
            <a:ahLst/>
            <a:cxnLst/>
            <a:rect l="l" t="t" r="r" b="b"/>
            <a:pathLst>
              <a:path w="2385175" h="2395171">
                <a:moveTo>
                  <a:pt x="0" y="0"/>
                </a:moveTo>
                <a:lnTo>
                  <a:pt x="2385175" y="0"/>
                </a:lnTo>
                <a:lnTo>
                  <a:pt x="2385175" y="2395171"/>
                </a:lnTo>
                <a:lnTo>
                  <a:pt x="0" y="2395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28" b="-1185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Zero-input detection: ZENO monitors stress passively — no journaling, no manual check-ins required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CogniPulse Score fuses 4 signals: typing behavior (35%), phone usage (30%), facial scan (20%), mood tap (15%)</a:t>
            </a: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Mochi develops a unique personality archetype (Night Owl, Achiever, Anxious) over 30 days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Mochi Memory System: references past user events to create intimacy no wellness app achieves today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Mochi Playdates: social feature where companions interact based on mutual stress data</a:t>
            </a: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biometric ML runs entirely on-device — raw data never leaves the user’s phone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90832" y="171450"/>
            <a:ext cx="12968937" cy="1714500"/>
            <a:chOff x="0" y="0"/>
            <a:chExt cx="17291917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91917" cy="2286000"/>
            </a:xfrm>
            <a:custGeom>
              <a:avLst/>
              <a:gdLst/>
              <a:ahLst/>
              <a:cxnLst/>
              <a:rect l="l" t="t" r="r" b="b"/>
              <a:pathLst>
                <a:path w="17291917" h="2286000">
                  <a:moveTo>
                    <a:pt x="0" y="0"/>
                  </a:moveTo>
                  <a:lnTo>
                    <a:pt x="17291917" y="0"/>
                  </a:lnTo>
                  <a:lnTo>
                    <a:pt x="17291917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r="-26912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291917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STACK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497065" y="9635728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08526" y="9635728"/>
            <a:ext cx="4267200" cy="547688"/>
            <a:chOff x="0" y="0"/>
            <a:chExt cx="56896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942126" y="0"/>
            <a:ext cx="2385175" cy="2401014"/>
          </a:xfrm>
          <a:custGeom>
            <a:avLst/>
            <a:gdLst/>
            <a:ahLst/>
            <a:cxnLst/>
            <a:rect l="l" t="t" r="r" b="b"/>
            <a:pathLst>
              <a:path w="2385175" h="2401014">
                <a:moveTo>
                  <a:pt x="0" y="0"/>
                </a:moveTo>
                <a:lnTo>
                  <a:pt x="2385174" y="0"/>
                </a:lnTo>
                <a:lnTo>
                  <a:pt x="2385174" y="2401014"/>
                </a:lnTo>
                <a:lnTo>
                  <a:pt x="0" y="2401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543" b="-1043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967886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Flutter (Dart) — single codebase for iOS and Android; Riverpod for state management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On-Device ML: TensorFlow Lite (CogniPulse MLP model, &lt;2MB, INT8 quantized, &lt;50ms inference)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Facial Analysis: MediaPipe Face Mesh — 468 landmarks; stress AUs extracted fully on-device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NLP: Claude API (Anthropic) — powers Mochi’s contextual dialogue, vibe checks, weekly letters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FastAPI (Python) — minimal REST API for auth, sync, social features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SQLite (on-device) + Supabase (optional encrypted cloud sync); Auth via Supabase + FCM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59519" y="380589"/>
            <a:ext cx="12968962" cy="1714500"/>
            <a:chOff x="0" y="0"/>
            <a:chExt cx="1729195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91949" cy="2286000"/>
            </a:xfrm>
            <a:custGeom>
              <a:avLst/>
              <a:gdLst/>
              <a:ahLst/>
              <a:cxnLst/>
              <a:rect l="l" t="t" r="r" b="b"/>
              <a:pathLst>
                <a:path w="17291949" h="2286000">
                  <a:moveTo>
                    <a:pt x="0" y="0"/>
                  </a:moveTo>
                  <a:lnTo>
                    <a:pt x="17291949" y="0"/>
                  </a:lnTo>
                  <a:lnTo>
                    <a:pt x="1729194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r="-26912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29195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078094" y="9635728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08526" y="9635728"/>
            <a:ext cx="4267200" cy="547688"/>
            <a:chOff x="0" y="0"/>
            <a:chExt cx="56896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942126" y="66897"/>
            <a:ext cx="2385175" cy="2341884"/>
          </a:xfrm>
          <a:custGeom>
            <a:avLst/>
            <a:gdLst/>
            <a:ahLst/>
            <a:cxnLst/>
            <a:rect l="l" t="t" r="r" b="b"/>
            <a:pathLst>
              <a:path w="2385175" h="2341884">
                <a:moveTo>
                  <a:pt x="0" y="0"/>
                </a:moveTo>
                <a:lnTo>
                  <a:pt x="2385174" y="0"/>
                </a:lnTo>
                <a:lnTo>
                  <a:pt x="2385174" y="2341884"/>
                </a:lnTo>
                <a:lnTo>
                  <a:pt x="0" y="23418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96" b="-12835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— Signal Collection: phone usage, typing patterns, facial scan captured via Flutter background isolates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 — CogniPulse Computation: TF Lite MLP model aggregates 12 signals into 0–100 score on-device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— Mochi Personality Engine: local state machine maps CogniPulse bands to mood; Claude API for dialogue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 — Cloud Sync (Optional): only aggregated scores synced; end-to-end encrypted via Supabase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Privacy-first design: no raw biometric data ever leaves the device by architectural constraint</a:t>
            </a: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Offline-first: core Mochi interactions and quests function fully without internet connectivity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FEATURES &amp; FUNCTIONALITY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526318" y="9650355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08526" y="9650355"/>
            <a:ext cx="4267200" cy="547688"/>
            <a:chOff x="0" y="0"/>
            <a:chExt cx="56896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6066713" y="0"/>
            <a:ext cx="2221287" cy="2683076"/>
          </a:xfrm>
          <a:custGeom>
            <a:avLst/>
            <a:gdLst/>
            <a:ahLst/>
            <a:cxnLst/>
            <a:rect l="l" t="t" r="r" b="b"/>
            <a:pathLst>
              <a:path w="2221287" h="2683076">
                <a:moveTo>
                  <a:pt x="0" y="0"/>
                </a:moveTo>
                <a:lnTo>
                  <a:pt x="2221287" y="0"/>
                </a:lnTo>
                <a:lnTo>
                  <a:pt x="2221287" y="2683076"/>
                </a:lnTo>
                <a:lnTo>
                  <a:pt x="0" y="2683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838" r="-7378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Mochi Companion: 4 mood states (Thriving / Balanced / Drifting / Struggling) with contextual AI dialogue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CogniPulse Dashboard: 7-day trend charts with AI-generated plain-language pattern insights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Quests: 5 contextual micro-challenges (Box Breathing, Screen Sabbath, Micro Walk) with XP rewards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 Alert System: Mochi visually changes state and sends gentle voice-style push notifications</a:t>
            </a: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Letter: AI-written Sunday summary in Mochi’s evolving personality voice via Claude API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Mochi Playdates: social feature — two users’ companions interact based on mutual CogniPulse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526318" y="9650355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08526" y="9650355"/>
            <a:ext cx="4267200" cy="547688"/>
            <a:chOff x="0" y="0"/>
            <a:chExt cx="56896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6066713" y="0"/>
            <a:ext cx="2221287" cy="2382815"/>
          </a:xfrm>
          <a:custGeom>
            <a:avLst/>
            <a:gdLst/>
            <a:ahLst/>
            <a:cxnLst/>
            <a:rect l="l" t="t" r="r" b="b"/>
            <a:pathLst>
              <a:path w="2221287" h="2382815">
                <a:moveTo>
                  <a:pt x="0" y="0"/>
                </a:moveTo>
                <a:lnTo>
                  <a:pt x="2221287" y="0"/>
                </a:lnTo>
                <a:lnTo>
                  <a:pt x="2221287" y="2382815"/>
                </a:lnTo>
                <a:lnTo>
                  <a:pt x="0" y="2382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016" r="-7378" b="-11914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Technical: Flutter + TF Lite stack is production-proven; on-device ML eliminates server cost at scale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 compliance: GDPR-aligned by design — no raw biometrics stored or transmitted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Market: $140B global mental wellness market by 2030; 74% Gen Z report burnout — massive TAM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Monetization: Freemium — free core; premium for avatar skins, Mochi Lore, deep analytics</a:t>
            </a: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Retention advantage: Day-7 target &gt;55% vs. industry average of 25% (gamification + passive detection)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MVP buildable within 2 months with current team; Phase 2 features roadmapped for Month 3–4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01073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4525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526318" y="9634365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08526" y="9664981"/>
            <a:ext cx="4267200" cy="547688"/>
            <a:chOff x="0" y="0"/>
            <a:chExt cx="56896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902825" y="35733"/>
            <a:ext cx="2385175" cy="2445179"/>
          </a:xfrm>
          <a:custGeom>
            <a:avLst/>
            <a:gdLst/>
            <a:ahLst/>
            <a:cxnLst/>
            <a:rect l="l" t="t" r="r" b="b"/>
            <a:pathLst>
              <a:path w="2385175" h="2445179">
                <a:moveTo>
                  <a:pt x="0" y="0"/>
                </a:moveTo>
                <a:lnTo>
                  <a:pt x="2385175" y="0"/>
                </a:lnTo>
                <a:lnTo>
                  <a:pt x="2385175" y="2445179"/>
                </a:lnTo>
                <a:lnTo>
                  <a:pt x="0" y="2445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402" b="-6316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998503" y="218748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7" y="0"/>
                </a:lnTo>
                <a:lnTo>
                  <a:pt x="6569897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5643340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 Z Burnout (2025 Int’l Study): 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83% of Gen Z frontline workers report burnout vs. 75% for other groups; 98% of 18–24 year-olds show at least one burnout symptom; 25% face unmanageable stress</a:t>
            </a:r>
          </a:p>
          <a:p>
            <a:pPr marL="457200" indent="-457200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 Health App Market (2025–2030): 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grows from $9.94B (2025) to $22.73B (2030) at 18.0% CAGR; North America holds 47% share; employer-sponsored apps fastest-growing at 19.2% CAGR</a:t>
            </a:r>
          </a:p>
          <a:p>
            <a:pPr marL="457200" indent="-457200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Wellness App Retention (JMIR 2019 + Industry Data): 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Headspace retains ~25% at Day 1, dropping to 4.7% at Day 30; median 30-day retention across mental health apps is 3.3%; mindfulness apps average 4.7%</a:t>
            </a:r>
          </a:p>
          <a:p>
            <a:pPr marL="457200" indent="-457200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as Cognitive Stress Proxy (Validated Research): 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Typing dynamics (speed, interkey intervals, errors/backspaces) reliably indicate mental fatigue; accuracy drops first, speed declines later; validated in office settings over weeks; correlates with neural fatigue markers</a:t>
            </a:r>
          </a:p>
          <a:p>
            <a:pPr marL="457200" indent="-457200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0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Facial Stress Detection — MediaPipe Face Mesh (Google): </a:t>
            </a: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468-landmark real-time detection; AU1, AU7, AU17 modelled via SVM classifiers with high F1 scores; stress tasks measurably increase AU intensities (chin raiser, lid tightener) for automatic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5700" y="193348"/>
            <a:ext cx="15910859" cy="1620864"/>
            <a:chOff x="-141059" y="-850281"/>
            <a:chExt cx="22439421" cy="3573673"/>
          </a:xfrm>
        </p:grpSpPr>
        <p:sp>
          <p:nvSpPr>
            <p:cNvPr id="3" name="Freeform 3"/>
            <p:cNvSpPr/>
            <p:nvPr/>
          </p:nvSpPr>
          <p:spPr>
            <a:xfrm>
              <a:off x="-141059" y="-850281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8"/>
              <a:ext cx="22298362" cy="2751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PROTOTYPE(optional)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078094" y="9635728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08526" y="9635728"/>
            <a:ext cx="4267200" cy="547688"/>
            <a:chOff x="0" y="0"/>
            <a:chExt cx="56896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11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990668" y="-22791"/>
            <a:ext cx="2308975" cy="2381709"/>
          </a:xfrm>
          <a:custGeom>
            <a:avLst/>
            <a:gdLst/>
            <a:ahLst/>
            <a:cxnLst/>
            <a:rect l="l" t="t" r="r" b="b"/>
            <a:pathLst>
              <a:path w="2385175" h="2545558">
                <a:moveTo>
                  <a:pt x="0" y="0"/>
                </a:moveTo>
                <a:lnTo>
                  <a:pt x="2385175" y="0"/>
                </a:lnTo>
                <a:lnTo>
                  <a:pt x="2385175" y="2545558"/>
                </a:lnTo>
                <a:lnTo>
                  <a:pt x="0" y="254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136" b="-7743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999"/>
            </a:blip>
            <a:stretch>
              <a:fillRect l="-5913" r="-5913"/>
            </a:stretch>
          </a:blipFill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5394CB-F9C9-6A8A-2A2C-B5D252A560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828" y="2358918"/>
            <a:ext cx="15660731" cy="65891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195317" y="328248"/>
            <a:ext cx="11897366" cy="1714500"/>
            <a:chOff x="0" y="0"/>
            <a:chExt cx="15863154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63154" cy="2286000"/>
            </a:xfrm>
            <a:custGeom>
              <a:avLst/>
              <a:gdLst/>
              <a:ahLst/>
              <a:cxnLst/>
              <a:rect l="l" t="t" r="r" b="b"/>
              <a:pathLst>
                <a:path w="15863154" h="2286000">
                  <a:moveTo>
                    <a:pt x="0" y="0"/>
                  </a:moveTo>
                  <a:lnTo>
                    <a:pt x="15863154" y="0"/>
                  </a:lnTo>
                  <a:lnTo>
                    <a:pt x="1586315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0825" b="-3017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5863154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 SCOPE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76806" y="9635728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20212" y="9635728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902825" y="0"/>
            <a:ext cx="2385175" cy="2549561"/>
          </a:xfrm>
          <a:custGeom>
            <a:avLst/>
            <a:gdLst/>
            <a:ahLst/>
            <a:cxnLst/>
            <a:rect l="l" t="t" r="r" b="b"/>
            <a:pathLst>
              <a:path w="2385175" h="2549561">
                <a:moveTo>
                  <a:pt x="0" y="0"/>
                </a:moveTo>
                <a:lnTo>
                  <a:pt x="2385175" y="0"/>
                </a:lnTo>
                <a:lnTo>
                  <a:pt x="2385175" y="2549561"/>
                </a:lnTo>
                <a:lnTo>
                  <a:pt x="0" y="254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88" b="-900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 (Month 3–4): Facial micro-expression scan, Mochi Playdates, calmness leaderboard, 5-avatar roster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3 (Month 5–6): Mochi Memory Cards, personality archetypes, unlockable premium skins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Smartwatch integration: Apple Watch / Wear OS HRV and SpO2 data to enhance CogniPulse accuracy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Therapist Mode: opt-in anonymized data sharing with licensed professionals for guided wellness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/ Campus edition: aggregate stress dashboards for universities and HR teams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Mochi: localized personality dialogue for global markets (India, SEA, LATAM)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195317" y="328248"/>
            <a:ext cx="11897366" cy="1714500"/>
            <a:chOff x="0" y="0"/>
            <a:chExt cx="15863154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63154" cy="2286000"/>
            </a:xfrm>
            <a:custGeom>
              <a:avLst/>
              <a:gdLst/>
              <a:ahLst/>
              <a:cxnLst/>
              <a:rect l="l" t="t" r="r" b="b"/>
              <a:pathLst>
                <a:path w="15863154" h="2286000">
                  <a:moveTo>
                    <a:pt x="0" y="0"/>
                  </a:moveTo>
                  <a:lnTo>
                    <a:pt x="15863154" y="0"/>
                  </a:lnTo>
                  <a:lnTo>
                    <a:pt x="1586315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0825" b="-3017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5863154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76806" y="9635728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20212" y="9635728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902825" y="0"/>
            <a:ext cx="2385175" cy="2549561"/>
          </a:xfrm>
          <a:custGeom>
            <a:avLst/>
            <a:gdLst/>
            <a:ahLst/>
            <a:cxnLst/>
            <a:rect l="l" t="t" r="r" b="b"/>
            <a:pathLst>
              <a:path w="2385175" h="2549561">
                <a:moveTo>
                  <a:pt x="0" y="0"/>
                </a:moveTo>
                <a:lnTo>
                  <a:pt x="2385175" y="0"/>
                </a:lnTo>
                <a:lnTo>
                  <a:pt x="2385175" y="2549561"/>
                </a:lnTo>
                <a:lnTo>
                  <a:pt x="0" y="254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88" b="-900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Addresses a $140B mental wellness market with a product Gen Z will actually use daily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Targets Day-7 retention of &gt;55% vs. industry average of 25% — 2x the engagement of existing apps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silent burnout progression by intervening before users consciously recognize stress</a:t>
            </a: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Privacy-first architecture sets a new ethical standard for AI-powered health monitoring on mobile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Freemium model democratizes cognitive wellness tools for students and early-career professionals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to reduce downstream mental health costs for institutions through early-stage intervention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195317" y="328248"/>
            <a:ext cx="11897366" cy="1714500"/>
            <a:chOff x="0" y="0"/>
            <a:chExt cx="15863154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63154" cy="2286000"/>
            </a:xfrm>
            <a:custGeom>
              <a:avLst/>
              <a:gdLst/>
              <a:ahLst/>
              <a:cxnLst/>
              <a:rect l="l" t="t" r="r" b="b"/>
              <a:pathLst>
                <a:path w="15863154" h="2286000">
                  <a:moveTo>
                    <a:pt x="0" y="0"/>
                  </a:moveTo>
                  <a:lnTo>
                    <a:pt x="15863154" y="0"/>
                  </a:lnTo>
                  <a:lnTo>
                    <a:pt x="1586315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0825" b="-3017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5863154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76806" y="9635728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20212" y="9635728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902825" y="0"/>
            <a:ext cx="2385175" cy="2549561"/>
          </a:xfrm>
          <a:custGeom>
            <a:avLst/>
            <a:gdLst/>
            <a:ahLst/>
            <a:cxnLst/>
            <a:rect l="l" t="t" r="r" b="b"/>
            <a:pathLst>
              <a:path w="2385175" h="2549561">
                <a:moveTo>
                  <a:pt x="0" y="0"/>
                </a:moveTo>
                <a:lnTo>
                  <a:pt x="2385175" y="0"/>
                </a:lnTo>
                <a:lnTo>
                  <a:pt x="2385175" y="2549561"/>
                </a:lnTo>
                <a:lnTo>
                  <a:pt x="0" y="254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88" b="-900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ContentBox"/>
          <p:cNvSpPr txBox="1"/>
          <p:nvPr/>
        </p:nvSpPr>
        <p:spPr>
          <a:xfrm>
            <a:off x="457200" y="2400000"/>
            <a:ext cx="17373600" cy="4796506"/>
          </a:xfrm>
          <a:prstGeom prst="rect">
            <a:avLst/>
          </a:prstGeom>
        </p:spPr>
        <p:txBody>
          <a:bodyPr lIns="91440" tIns="91440" rIns="91440" bIns="91440" rtlCol="0" anchor="t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ZENO solves the #1 failure of wellness apps: requiring effort from users who are already overwhelmed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 detection + gamification + living AI companion — a combination no existing app has achieved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on a privacy-first, on-device ML architecture that is both ethical and technically superior</a:t>
            </a: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Powered by Claude API for genuine, evolving personality — not scripted chatbot responses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MVP is live and demo-ready: Mochi, CogniPulse, quests, insights, and onboarding all functional</a:t>
            </a:r>
          </a:p>
          <a:p>
            <a:pPr marL="457200" indent="-457200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endParaRPr lang="en-US" sz="27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l">
              <a:lnSpc>
                <a:spcPts val="3200"/>
              </a:lnSpc>
              <a:spcBef>
                <a:spcPts val="120"/>
              </a:spcBef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ZENO doesn’t just track your mental health. It befriends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195317" y="328248"/>
            <a:ext cx="11897366" cy="1714500"/>
            <a:chOff x="0" y="0"/>
            <a:chExt cx="15863154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63154" cy="2286000"/>
            </a:xfrm>
            <a:custGeom>
              <a:avLst/>
              <a:gdLst/>
              <a:ahLst/>
              <a:cxnLst/>
              <a:rect l="l" t="t" r="r" b="b"/>
              <a:pathLst>
                <a:path w="15863154" h="2286000">
                  <a:moveTo>
                    <a:pt x="0" y="0"/>
                  </a:moveTo>
                  <a:lnTo>
                    <a:pt x="15863154" y="0"/>
                  </a:lnTo>
                  <a:lnTo>
                    <a:pt x="15863154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0825" b="-3017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5863154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876806" y="9635728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22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20212" y="9635728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4AAD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22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THINKATHON-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902825" y="0"/>
            <a:ext cx="2385175" cy="2549561"/>
          </a:xfrm>
          <a:custGeom>
            <a:avLst/>
            <a:gdLst/>
            <a:ahLst/>
            <a:cxnLst/>
            <a:rect l="l" t="t" r="r" b="b"/>
            <a:pathLst>
              <a:path w="2385175" h="2549561">
                <a:moveTo>
                  <a:pt x="0" y="0"/>
                </a:moveTo>
                <a:lnTo>
                  <a:pt x="2385175" y="0"/>
                </a:lnTo>
                <a:lnTo>
                  <a:pt x="2385175" y="2549561"/>
                </a:lnTo>
                <a:lnTo>
                  <a:pt x="0" y="254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88" b="-900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859051" y="2199864"/>
            <a:ext cx="6569898" cy="7332280"/>
          </a:xfrm>
          <a:custGeom>
            <a:avLst/>
            <a:gdLst/>
            <a:ahLst/>
            <a:cxnLst/>
            <a:rect l="l" t="t" r="r" b="b"/>
            <a:pathLst>
              <a:path w="6569898" h="7332280">
                <a:moveTo>
                  <a:pt x="0" y="0"/>
                </a:moveTo>
                <a:lnTo>
                  <a:pt x="6569898" y="0"/>
                </a:lnTo>
                <a:lnTo>
                  <a:pt x="6569898" y="7332280"/>
                </a:lnTo>
                <a:lnTo>
                  <a:pt x="0" y="7332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-5913" r="-5913"/>
            </a:stretch>
          </a:blipFill>
        </p:spPr>
      </p:sp>
      <p:sp>
        <p:nvSpPr>
          <p:cNvPr id="99" name="ThankYouBox"/>
          <p:cNvSpPr txBox="1"/>
          <p:nvPr/>
        </p:nvSpPr>
        <p:spPr>
          <a:xfrm>
            <a:off x="457200" y="3000000"/>
            <a:ext cx="17373600" cy="5000000"/>
          </a:xfrm>
          <a:prstGeom prst="rect">
            <a:avLst/>
          </a:prstGeom>
        </p:spPr>
        <p:txBody>
          <a:bodyPr lIns="91440" tIns="91440" rIns="91440" bIns="91440" rtlCol="0" anchor="ctr"/>
          <a:lstStyle/>
          <a:p>
            <a:pPr algn="ctr">
              <a:lnSpc>
                <a:spcPts val="3600"/>
              </a:lnSpc>
            </a:pPr>
            <a:r>
              <a:rPr lang="en-US" sz="5400" b="1" dirty="0">
                <a:solidFill>
                  <a:srgbClr val="C00000"/>
                </a:solidFill>
                <a:latin typeface="Times New Roman Bold"/>
              </a:rPr>
              <a:t>Team Daemons</a:t>
            </a:r>
          </a:p>
          <a:p>
            <a:pPr algn="ctr">
              <a:lnSpc>
                <a:spcPts val="288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TH09-77-GGCHITS-26  |  GGC06  |  THINKATHON 9.0</a:t>
            </a:r>
          </a:p>
          <a:p>
            <a:pPr algn="ctr">
              <a:lnSpc>
                <a:spcPts val="2880"/>
              </a:lnSpc>
            </a:pPr>
            <a:r>
              <a:rPr lang="en-US" sz="2200" dirty="0">
                <a:solidFill>
                  <a:srgbClr val="004AAD"/>
                </a:solidFill>
                <a:latin typeface="Times New Roman"/>
              </a:rPr>
              <a:t>contact@zeno.app  |  zeno.app</a:t>
            </a:r>
          </a:p>
          <a:p>
            <a:pPr algn="ctr">
              <a:lnSpc>
                <a:spcPts val="2880"/>
              </a:lnSpc>
            </a:pPr>
            <a:r>
              <a:rPr lang="en-US" sz="2400" i="1" dirty="0">
                <a:solidFill>
                  <a:srgbClr val="555555"/>
                </a:solidFill>
                <a:latin typeface="Times New Roman"/>
              </a:rPr>
              <a:t>“ZENO doesn’t just track your mental health. It befriends it.”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1473</Words>
  <Application>Microsoft Office PowerPoint</Application>
  <PresentationFormat>Custom</PresentationFormat>
  <Paragraphs>234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Times New Roman Bold</vt:lpstr>
      <vt:lpstr>Arimo</vt:lpstr>
      <vt:lpstr>Arimo Bold</vt:lpstr>
      <vt:lpstr>Garamond Bold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THINKATHON 2026 template</dc:title>
  <dc:creator>Derrick Rajkumar</dc:creator>
  <cp:lastModifiedBy>Derrick Rajkumar</cp:lastModifiedBy>
  <cp:revision>31</cp:revision>
  <dcterms:created xsi:type="dcterms:W3CDTF">2006-08-16T00:00:00Z</dcterms:created>
  <dcterms:modified xsi:type="dcterms:W3CDTF">2026-03-05T16:16:16Z</dcterms:modified>
  <dc:identifier>DAHAzjCyXms</dc:identifier>
</cp:coreProperties>
</file>